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702" r:id="rId2"/>
    <p:sldId id="258" r:id="rId3"/>
    <p:sldId id="3725" r:id="rId4"/>
    <p:sldId id="3726" r:id="rId5"/>
    <p:sldId id="3727" r:id="rId6"/>
    <p:sldId id="3728" r:id="rId7"/>
    <p:sldId id="3729" r:id="rId8"/>
    <p:sldId id="3730" r:id="rId9"/>
    <p:sldId id="3731" r:id="rId10"/>
    <p:sldId id="3732" r:id="rId11"/>
    <p:sldId id="3735" r:id="rId12"/>
    <p:sldId id="3733" r:id="rId13"/>
    <p:sldId id="373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keshi Parnami" initials="SP" lastIdx="1" clrIdx="0">
    <p:extLst>
      <p:ext uri="{19B8F6BF-5375-455C-9EA6-DF929625EA0E}">
        <p15:presenceInfo xmlns:p15="http://schemas.microsoft.com/office/powerpoint/2012/main" userId="S::sparnami@upes.ac.in::61686955-4e93-4ddb-a545-ba82f91d1f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79A8"/>
    <a:srgbClr val="46B0FA"/>
    <a:srgbClr val="434ACF"/>
    <a:srgbClr val="4AAEFC"/>
    <a:srgbClr val="BF2CFE"/>
    <a:srgbClr val="AE36FF"/>
    <a:srgbClr val="27D4F8"/>
    <a:srgbClr val="D9FF00"/>
    <a:srgbClr val="E0E600"/>
    <a:srgbClr val="0B2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D576E9-8198-4FE6-8AAA-7597D5274951}" v="4" dt="2025-11-05T05:36:37.6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2093" autoAdjust="0"/>
  </p:normalViewPr>
  <p:slideViewPr>
    <p:cSldViewPr snapToGrid="0" snapToObjects="1">
      <p:cViewPr varScale="1">
        <p:scale>
          <a:sx n="76" d="100"/>
          <a:sy n="76" d="100"/>
        </p:scale>
        <p:origin x="69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 b="1"/>
            </a:pPr>
            <a:r>
              <a:rPr lang="en-US"/>
              <a:t>Weekly Project Progress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Week 1–2</c:v>
                </c:pt>
                <c:pt idx="1">
                  <c:v>Week 3–4</c:v>
                </c:pt>
                <c:pt idx="2">
                  <c:v>Week 5–6</c:v>
                </c:pt>
                <c:pt idx="3">
                  <c:v>Week 7</c:v>
                </c:pt>
                <c:pt idx="4">
                  <c:v>Week 8</c:v>
                </c:pt>
                <c:pt idx="5">
                  <c:v>Week 9</c:v>
                </c:pt>
                <c:pt idx="6">
                  <c:v>Week 10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F8-4EAC-8F6D-D5710D86F2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D15D-1C13-CC45-BE09-4D54E9A973B4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3A8CF-95A7-924D-878B-183116A25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6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3A8CF-95A7-924D-878B-183116A25DF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332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3A5AE-9E54-0598-E4EA-214B202EB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2939DA-EBC4-680F-136D-2050EA70D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DCFE1-6639-DE64-068E-253C10215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01B9A-1017-8061-CB4B-A25CFBC76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3A8CF-95A7-924D-878B-183116A25DF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4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F0E72-3870-48EB-22E8-E5544F4CB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6B6BE-8AE3-3EDF-25F7-DBF1121A5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A7664-8B6B-6556-9ECF-614D3BF38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BE7DA-3F0C-155A-BA85-3DAB29C7A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3A8CF-95A7-924D-878B-183116A25DF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313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EAA8A-7FD2-B598-3188-FEFD9CBB4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73B86-AFC7-6F43-6622-0B6435D51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0CD10-8A7C-9583-90BE-D8F8A519A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AAA66-38D6-4308-65BD-791007440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3A8CF-95A7-924D-878B-183116A25DF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109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8D4AE-3269-1A35-C58F-270F78CFF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C8870-3D16-E904-969B-D22C99149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DBAC5-0274-323E-500E-7417AE79C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8814F-A89C-3F7E-BAE0-9641E1AB0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3A8CF-95A7-924D-878B-183116A25DF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36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87372-0A1B-0EA6-63A2-F587E0A2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66016-4332-7D93-7B68-409225788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04A18-AE58-2D8E-845F-5D565D106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EEF4E-29B2-ECDC-E554-7BD493320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3A8CF-95A7-924D-878B-183116A25DF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636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0CC86-9C2F-9F7F-ED1D-1D5784A6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E563E-B0C4-F99A-7A54-2CE968DEF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50E5F-9336-C27F-1CAC-82EE2C555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E1C76-565B-99ED-4136-14A3B4029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3A8CF-95A7-924D-878B-183116A25DF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601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B9162-F5ED-80FB-D205-5F97F983D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BE2E68-400F-019E-4C99-53EB8710D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DBA26-C18B-BED5-EECF-7CC28AB55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B1C00-AAF8-7C11-C7D1-AAD7F08DA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3A8CF-95A7-924D-878B-183116A25DF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835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B595-0E26-BD35-0583-91515A7E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24F65-D04D-5718-BAC2-296CAE48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07584-EFF2-A796-4FC6-2F6202907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0EA59-8ACD-8E2F-7C71-787EEEBFB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3A8CF-95A7-924D-878B-183116A25DF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294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108FA-1026-E4AC-F8E6-82247F03D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9D684-6C43-6EE0-D660-960EDBDF5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19FC3-B1BD-13A4-6AA9-7CF0AF7C6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E0391-73B0-280B-5416-F31FF7D91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3A8CF-95A7-924D-878B-183116A25DF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906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808B4-FA6C-48D1-1150-482725DEA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D4BAC-DB56-EAC3-FBA8-5F1A98CCF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43EFB-2909-6714-D344-1D731C9BA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612B5-4BD7-3333-12AF-51CD90223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3A8CF-95A7-924D-878B-183116A25DF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705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73FB-2D72-9945-BF45-5347690BB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C615-989D-9D44-8501-FCE01FCED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5F24-53F9-054C-A9F8-3DCFACAB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E7FB8-C70E-584A-A086-8852BD63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C156-1A78-7A4C-AB86-BCA1B178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45BD75-B1E6-DE4E-8CD3-58B4BE092B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1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534770" y="6544243"/>
            <a:ext cx="570476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©</a:t>
            </a:r>
            <a:r>
              <a:rPr lang="en-US" sz="1000" baseline="0" dirty="0">
                <a:solidFill>
                  <a:schemeClr val="bg1">
                    <a:lumMod val="65000"/>
                  </a:schemeClr>
                </a:solidFill>
              </a:rPr>
              <a:t> DEPARTMENT OF RESEARCH &amp; DEVELOPMENT | UPES</a:t>
            </a:r>
            <a:endParaRPr 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Oval 2"/>
          <p:cNvSpPr/>
          <p:nvPr userDrawn="1"/>
        </p:nvSpPr>
        <p:spPr>
          <a:xfrm>
            <a:off x="11518710" y="6148738"/>
            <a:ext cx="504967" cy="518615"/>
          </a:xfrm>
          <a:prstGeom prst="ellipse">
            <a:avLst/>
          </a:prstGeom>
          <a:ln>
            <a:noFill/>
          </a:ln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5BD75-B1E6-DE4E-8CD3-58B4BE092B5A}" type="slidenum">
              <a:rPr lang="en-US" sz="1100" smtClean="0"/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8424082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316BF-8A16-4F24-9F8F-9D40354D5A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34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3F19-B29D-AEBA-1E67-63B526DB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A8A09-5661-E84C-EA5A-BA7A0790D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CD4C5-4F23-150D-0244-46A2469D7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D93E-89F8-44D5-A625-6ED65AB07DCC}" type="datetime1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B48FF-FC69-C154-54AE-A7BC2D5E7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33FAA-014B-8F86-DF44-FBFEE780A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A20A6-2C11-4CB1-9193-A0D80FC84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527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C0DC26-5D78-6140-BF89-41378C4365C1}"/>
              </a:ext>
            </a:extLst>
          </p:cNvPr>
          <p:cNvSpPr/>
          <p:nvPr userDrawn="1"/>
        </p:nvSpPr>
        <p:spPr>
          <a:xfrm>
            <a:off x="95536" y="91109"/>
            <a:ext cx="11998411" cy="6685005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8322972" y="123689"/>
            <a:ext cx="3668722" cy="1223167"/>
            <a:chOff x="7022243" y="874316"/>
            <a:chExt cx="3668722" cy="122316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7022243" y="939143"/>
              <a:ext cx="3566469" cy="115834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C83A3B9-8FD2-1FEF-B1DF-8513498980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0720" y="874316"/>
              <a:ext cx="2470245" cy="70507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384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870634" y="6492875"/>
            <a:ext cx="321366" cy="365125"/>
          </a:xfrm>
        </p:spPr>
        <p:txBody>
          <a:bodyPr/>
          <a:lstStyle/>
          <a:p>
            <a:fld id="{CD3316BF-8A16-4F24-9F8F-9D40354D5A5C}" type="slidenum">
              <a:rPr lang="en-US" smtClean="0"/>
              <a:t>1</a:t>
            </a:fld>
            <a:r>
              <a:rPr lang="en-US" dirty="0"/>
              <a:t>\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BB65938-CE3E-F9F0-179F-FF724A08EBBB}"/>
              </a:ext>
            </a:extLst>
          </p:cNvPr>
          <p:cNvSpPr txBox="1">
            <a:spLocks/>
          </p:cNvSpPr>
          <p:nvPr/>
        </p:nvSpPr>
        <p:spPr>
          <a:xfrm>
            <a:off x="198286" y="3418239"/>
            <a:ext cx="2490323" cy="1029971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E06B55-D03A-4F2D-978E-2D732F94AB43}"/>
              </a:ext>
            </a:extLst>
          </p:cNvPr>
          <p:cNvSpPr txBox="1">
            <a:spLocks/>
          </p:cNvSpPr>
          <p:nvPr/>
        </p:nvSpPr>
        <p:spPr>
          <a:xfrm>
            <a:off x="8666922" y="3429000"/>
            <a:ext cx="3653001" cy="1487451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3104B83-E671-4E15-A901-6267053F75DE}"/>
              </a:ext>
            </a:extLst>
          </p:cNvPr>
          <p:cNvSpPr txBox="1">
            <a:spLocks/>
          </p:cNvSpPr>
          <p:nvPr/>
        </p:nvSpPr>
        <p:spPr>
          <a:xfrm>
            <a:off x="2242837" y="4755764"/>
            <a:ext cx="7095480" cy="1009879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1AB9A-3EE7-B40F-6CF1-3D1BAD73D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420" y="505493"/>
            <a:ext cx="5978313" cy="276973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447062-9C5B-7070-83C7-7B10EC2ECAC6}"/>
              </a:ext>
            </a:extLst>
          </p:cNvPr>
          <p:cNvSpPr txBox="1"/>
          <p:nvPr/>
        </p:nvSpPr>
        <p:spPr>
          <a:xfrm>
            <a:off x="2242837" y="4051018"/>
            <a:ext cx="7002762" cy="1721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417195" algn="ctr">
              <a:lnSpc>
                <a:spcPct val="98000"/>
              </a:lnSpc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Seth Vishambhar Nath Group of Educational Institutions</a:t>
            </a:r>
            <a:endParaRPr lang="en-IN" sz="2800" dirty="0">
              <a:effectLst/>
              <a:latin typeface="Bookman Old Style" panose="02050604050505020204" pitchFamily="18" charset="0"/>
              <a:ea typeface="Bookman Old Style" panose="02050604050505020204" pitchFamily="18" charset="0"/>
              <a:cs typeface="Bookman Old Style" panose="02050604050505020204" pitchFamily="18" charset="0"/>
            </a:endParaRPr>
          </a:p>
          <a:p>
            <a:pPr marL="417830" marR="417195" algn="ctr">
              <a:lnSpc>
                <a:spcPct val="98000"/>
              </a:lnSpc>
              <a:buNone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Safedabad</a:t>
            </a:r>
            <a:r>
              <a:rPr lang="en-US" sz="1800" dirty="0">
                <a:effectLst/>
                <a:latin typeface="Times New Roman" panose="020206030504050203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, Lucknow-Barabanki Highway, Barabanki - 225003, Uttar Pradesh, India</a:t>
            </a:r>
            <a:endParaRPr lang="en-IN" sz="2800" dirty="0">
              <a:effectLst/>
              <a:latin typeface="Bookman Old Style" panose="02050604050505020204" pitchFamily="18" charset="0"/>
              <a:ea typeface="Bookman Old Style" panose="02050604050505020204" pitchFamily="18" charset="0"/>
              <a:cs typeface="Bookman Old Style" panose="020506040505050202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BC56E8-2DBE-1E90-26D9-33B89437E330}"/>
              </a:ext>
            </a:extLst>
          </p:cNvPr>
          <p:cNvSpPr/>
          <p:nvPr/>
        </p:nvSpPr>
        <p:spPr>
          <a:xfrm>
            <a:off x="9245599" y="212651"/>
            <a:ext cx="2811722" cy="499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080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5321B2F7-1A5B-7939-7DA5-5CC2963C63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-197708" y="-72330"/>
            <a:ext cx="12389688" cy="6967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98196E-6A18-2370-9355-027670CC1793}"/>
              </a:ext>
            </a:extLst>
          </p:cNvPr>
          <p:cNvSpPr txBox="1"/>
          <p:nvPr/>
        </p:nvSpPr>
        <p:spPr>
          <a:xfrm>
            <a:off x="605929" y="308473"/>
            <a:ext cx="11391440" cy="602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600" b="1">
                <a:solidFill>
                  <a:srgbClr val="006CB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 err="1"/>
              <a:t>RecipeBox</a:t>
            </a:r>
            <a:r>
              <a:rPr lang="en-US" dirty="0"/>
              <a:t> — A Web Application for Managing and Sharing Recipes</a:t>
            </a:r>
            <a:r>
              <a:rPr lang="en-US" i="1" dirty="0"/>
              <a:t> 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Chandan Chaudhary</a:t>
            </a:r>
          </a:p>
          <a:p>
            <a:pPr algn="ctr"/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Roll no: 2203451650008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 Prem Verma</a:t>
            </a:r>
          </a:p>
          <a:p>
            <a:pPr algn="ctr"/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Roll no: 2203450100058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Abhay Chaudhary</a:t>
            </a:r>
          </a:p>
          <a:p>
            <a:pPr algn="ctr"/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Roll no: 2203451650002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Shivam </a:t>
            </a:r>
          </a:p>
          <a:p>
            <a:pPr algn="ctr"/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Roll no: 2203451650019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Guide         : Beer Singh</a:t>
            </a:r>
          </a:p>
          <a:p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Designation: Assistant Professor</a:t>
            </a:r>
          </a:p>
          <a:p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</a:t>
            </a:r>
          </a:p>
          <a:p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of Synopsis:</a:t>
            </a:r>
          </a:p>
          <a:p>
            <a:endParaRPr lang="en-US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17195" algn="ctr">
              <a:lnSpc>
                <a:spcPct val="98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Seth Vishambhar Nath Group of Educational Institutions</a:t>
            </a:r>
            <a:endParaRPr lang="en-IN" sz="2000" dirty="0">
              <a:latin typeface="Times New Roman" panose="02020603050405020304" pitchFamily="18" charset="0"/>
              <a:ea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417830" marR="417195" algn="ctr">
              <a:lnSpc>
                <a:spcPct val="98000"/>
              </a:lnSpc>
              <a:buNone/>
            </a:pPr>
            <a:r>
              <a:rPr lang="en-US" sz="2000" dirty="0" err="1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Safedabad</a:t>
            </a:r>
            <a:r>
              <a:rPr lang="en-US" sz="2000" dirty="0">
                <a:latin typeface="Times New Roman" panose="02020603050405020304" pitchFamily="18" charset="0"/>
                <a:ea typeface="Bookman Old Style" panose="02050604050505020204" pitchFamily="18" charset="0"/>
                <a:cs typeface="Times New Roman" panose="02020603050405020304" pitchFamily="18" charset="0"/>
              </a:rPr>
              <a:t>, Lucknow-Barabanki Highway, Barabanki - 225003, Uttar Pradesh, India</a:t>
            </a:r>
            <a:endParaRPr lang="en-IN" sz="2000" dirty="0">
              <a:latin typeface="Times New Roman" panose="02020603050405020304" pitchFamily="18" charset="0"/>
              <a:ea typeface="Bookman Old Style" panose="02050604050505020204" pitchFamily="18" charset="0"/>
              <a:cs typeface="Times New Roman" panose="02020603050405020304" pitchFamily="18" charset="0"/>
            </a:endParaRPr>
          </a:p>
          <a:p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642981-32FA-89C4-6FB1-8E80BD7C7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4D1665-229F-1FBE-FA73-A5156D60697E}"/>
              </a:ext>
            </a:extLst>
          </p:cNvPr>
          <p:cNvSpPr/>
          <p:nvPr/>
        </p:nvSpPr>
        <p:spPr>
          <a:xfrm>
            <a:off x="9739423" y="5752214"/>
            <a:ext cx="2169042" cy="893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5DAE4A-3E30-24A9-C7F2-38CE9058A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891" y="5714446"/>
            <a:ext cx="1802478" cy="8350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996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7BCE1-B958-E43F-925E-4C21D847F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74A30858-A81F-C752-FF89-085EB0DED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-197708" y="-72330"/>
            <a:ext cx="12389688" cy="6967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FAD0E0-DE06-3173-D1AA-34B9986DF057}"/>
              </a:ext>
            </a:extLst>
          </p:cNvPr>
          <p:cNvSpPr txBox="1"/>
          <p:nvPr/>
        </p:nvSpPr>
        <p:spPr>
          <a:xfrm>
            <a:off x="605929" y="308473"/>
            <a:ext cx="1139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600" b="1">
                <a:solidFill>
                  <a:srgbClr val="006CB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8F469A-B96C-D361-2532-25787C406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B4DE24-34D4-FDD6-AF43-0E8EBC443404}"/>
              </a:ext>
            </a:extLst>
          </p:cNvPr>
          <p:cNvSpPr/>
          <p:nvPr/>
        </p:nvSpPr>
        <p:spPr>
          <a:xfrm>
            <a:off x="9739423" y="5752214"/>
            <a:ext cx="2169042" cy="893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67D0F4-9D34-F277-D2D4-4FFB14A2E3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891" y="5714446"/>
            <a:ext cx="1802478" cy="83508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14B663-8787-4DAB-8779-164B47574C3D}"/>
              </a:ext>
            </a:extLst>
          </p:cNvPr>
          <p:cNvSpPr txBox="1"/>
          <p:nvPr/>
        </p:nvSpPr>
        <p:spPr>
          <a:xfrm>
            <a:off x="446567" y="1011244"/>
            <a:ext cx="8702749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methodology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18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3EBC7-A7BD-7FF5-0CCF-FB59F07E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586B8E87-A69D-5299-E46E-DB7DBDB4FD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-197708" y="-70879"/>
            <a:ext cx="12389688" cy="6967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3836EF-0ED5-EF4B-8E8A-47A75E374AB2}"/>
              </a:ext>
            </a:extLst>
          </p:cNvPr>
          <p:cNvSpPr txBox="1"/>
          <p:nvPr/>
        </p:nvSpPr>
        <p:spPr>
          <a:xfrm>
            <a:off x="605929" y="308473"/>
            <a:ext cx="11391440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600" b="1">
                <a:solidFill>
                  <a:srgbClr val="006CB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8E9C35-0BE8-7354-3D7F-F8C61FC8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3BCD79-5BA1-0C19-CDCB-7268D710AAE9}"/>
              </a:ext>
            </a:extLst>
          </p:cNvPr>
          <p:cNvSpPr/>
          <p:nvPr/>
        </p:nvSpPr>
        <p:spPr>
          <a:xfrm>
            <a:off x="9739423" y="5752214"/>
            <a:ext cx="2169042" cy="893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9622B8-7518-D0E6-E2F3-4431C429D9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891" y="5714446"/>
            <a:ext cx="1802478" cy="83508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183DFB-A97B-2884-07DD-F923480BE14A}"/>
              </a:ext>
            </a:extLst>
          </p:cNvPr>
          <p:cNvSpPr txBox="1"/>
          <p:nvPr/>
        </p:nvSpPr>
        <p:spPr>
          <a:xfrm>
            <a:off x="843280" y="1359193"/>
            <a:ext cx="69073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Recipe Box is an online recipe management system built using React and Vite.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allow to user see recipe,  ingredients, chef and add to </a:t>
            </a:r>
            <a:r>
              <a:rPr lang="en-US" sz="2000" dirty="0" err="1"/>
              <a:t>favourite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And seller to browse, create, update, and delete recipes.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Using React.js for frontend , (Node.js and Express.js) for backend and MongoDB for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Supports user-friendly interface and responsive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Goal: Help users store, organize, and access recipes easily.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C6C427-43B0-AE9E-6493-B98A2D934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628" y="1820091"/>
            <a:ext cx="3709851" cy="230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7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2A90E-D98C-CF03-5BEA-988BA8E7D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18EA1D32-A818-1132-3AC9-EF6AD83E3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-197708" y="-72330"/>
            <a:ext cx="12389688" cy="6967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DDACEA-6FF7-27BD-F576-815CC3F3A8FA}"/>
              </a:ext>
            </a:extLst>
          </p:cNvPr>
          <p:cNvSpPr txBox="1"/>
          <p:nvPr/>
        </p:nvSpPr>
        <p:spPr>
          <a:xfrm>
            <a:off x="605929" y="308473"/>
            <a:ext cx="11391440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600" b="1">
                <a:solidFill>
                  <a:srgbClr val="006CB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426A1E-0650-F00C-C56A-FA51EC2F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8D7F29-D696-AADC-B968-2D961473B0AD}"/>
              </a:ext>
            </a:extLst>
          </p:cNvPr>
          <p:cNvSpPr/>
          <p:nvPr/>
        </p:nvSpPr>
        <p:spPr>
          <a:xfrm>
            <a:off x="9739423" y="5752214"/>
            <a:ext cx="2169042" cy="893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7B68E2-FA8A-2440-A231-BAFF22A32C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891" y="5714446"/>
            <a:ext cx="1802478" cy="83508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DF9572-AF04-43EB-89EA-6EC58DCAFEE2}"/>
              </a:ext>
            </a:extLst>
          </p:cNvPr>
          <p:cNvSpPr txBox="1"/>
          <p:nvPr/>
        </p:nvSpPr>
        <p:spPr>
          <a:xfrm>
            <a:off x="704843" y="1558149"/>
            <a:ext cx="624459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Managing recipes manually is time-consuming and prone to loss.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Existing apps can be complex or not user-friendly.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Users need easy-to-use digital platforms for storing and accessing recipes.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Recipe Box aims to simplify recipe management and improve user experience.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4FE000-8B8D-0272-56C3-3A1C57651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346" y="1254568"/>
            <a:ext cx="4868091" cy="343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56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AFEA-DDAA-7396-BAB1-ADA3943E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C8F3850F-2527-DE19-1F30-678AB4591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-197708" y="-20076"/>
            <a:ext cx="12389688" cy="6967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0594B3-472B-FC4B-6623-B7AB315C6202}"/>
              </a:ext>
            </a:extLst>
          </p:cNvPr>
          <p:cNvSpPr txBox="1"/>
          <p:nvPr/>
        </p:nvSpPr>
        <p:spPr>
          <a:xfrm>
            <a:off x="605929" y="308473"/>
            <a:ext cx="11391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600" b="1">
                <a:solidFill>
                  <a:srgbClr val="006CB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053D9-2BD9-AC66-2BB0-BF7163A8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05BF6F-5DDF-CF2C-5FD4-8543BE0B5994}"/>
              </a:ext>
            </a:extLst>
          </p:cNvPr>
          <p:cNvSpPr/>
          <p:nvPr/>
        </p:nvSpPr>
        <p:spPr>
          <a:xfrm>
            <a:off x="9739423" y="5752214"/>
            <a:ext cx="2169042" cy="893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F9EB9E-4F5B-485D-38D0-9A5094B8C2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891" y="5714446"/>
            <a:ext cx="1802478" cy="83508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473433-E9B5-B6B0-82B2-A1E61273FDB5}"/>
              </a:ext>
            </a:extLst>
          </p:cNvPr>
          <p:cNvSpPr txBox="1"/>
          <p:nvPr/>
        </p:nvSpPr>
        <p:spPr>
          <a:xfrm>
            <a:off x="605929" y="1154153"/>
            <a:ext cx="61482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Many apps like Yummly, All Recipes, Tasty exist for recipes.</a:t>
            </a:r>
          </a:p>
          <a:p>
            <a:r>
              <a:rPr lang="en-US" sz="2400" dirty="0"/>
              <a:t>Literature suggests that simple UI and CRUD operations are critical.</a:t>
            </a:r>
          </a:p>
          <a:p>
            <a:r>
              <a:rPr lang="en-US" sz="2400" dirty="0"/>
              <a:t>Users prefer fast search and categorization feature</a:t>
            </a:r>
          </a:p>
          <a:p>
            <a:r>
              <a:rPr lang="en-US" sz="2400" dirty="0"/>
              <a:t>React-based frontends provide smooth interactivity and better user experience.</a:t>
            </a:r>
          </a:p>
          <a:p>
            <a:r>
              <a:rPr lang="en-US" sz="2400" dirty="0"/>
              <a:t>Recipe Box builds on these findings with a lightweight, responsive design.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FF9733-5767-A615-DB46-D10E4A7804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784" y="1125183"/>
            <a:ext cx="3555710" cy="381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619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A139C-EAEF-9D18-BA23-143391CFB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27832DC4-BF08-92B2-477F-9A3D75CF0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0" y="-72330"/>
            <a:ext cx="12389688" cy="6967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FB27E2-D4AC-2D99-2759-74DC7A5A573D}"/>
              </a:ext>
            </a:extLst>
          </p:cNvPr>
          <p:cNvSpPr txBox="1"/>
          <p:nvPr/>
        </p:nvSpPr>
        <p:spPr>
          <a:xfrm>
            <a:off x="605929" y="308473"/>
            <a:ext cx="11391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600" b="1">
                <a:solidFill>
                  <a:srgbClr val="006CB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486F39-83AB-F662-BC4A-AA6351F0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F2731D-2B7C-3D1D-C1DF-2705DC4D9E0A}"/>
              </a:ext>
            </a:extLst>
          </p:cNvPr>
          <p:cNvSpPr/>
          <p:nvPr/>
        </p:nvSpPr>
        <p:spPr>
          <a:xfrm>
            <a:off x="9739423" y="5752214"/>
            <a:ext cx="2169042" cy="893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8CCC14-2CC6-91E1-DBF3-A7224E920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891" y="5714446"/>
            <a:ext cx="1802478" cy="83508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6CB5E9-AB99-632C-FC0A-C46569C8AA49}"/>
              </a:ext>
            </a:extLst>
          </p:cNvPr>
          <p:cNvSpPr txBox="1"/>
          <p:nvPr/>
        </p:nvSpPr>
        <p:spPr>
          <a:xfrm>
            <a:off x="914400" y="1508985"/>
            <a:ext cx="59653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Many recipe apps are feature-heavy, overwhelming beginners.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Limited apps provide customizable categories or easy editing.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Offline support and simplicity are often missing.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RecipeBox addresses these by offering: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Simple CRUD operations.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Responsive and intuitive UI.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Easy search and categorization.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D5D016-9B35-305A-421D-133BBFFBDBE8}"/>
              </a:ext>
            </a:extLst>
          </p:cNvPr>
          <p:cNvSpPr txBox="1"/>
          <p:nvPr/>
        </p:nvSpPr>
        <p:spPr>
          <a:xfrm>
            <a:off x="6374674" y="1913364"/>
            <a:ext cx="5000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1DFAD9-3A55-8656-BD87-64B3686C8B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4171" y="1088042"/>
            <a:ext cx="3121277" cy="468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33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14206-5E3C-8079-816A-23BD31047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6BEC7F12-6FED-DE99-3FEF-211C55E5E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0" y="-109908"/>
            <a:ext cx="12389688" cy="6967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A46C41-A649-4B9E-EFF9-99E3CE802225}"/>
              </a:ext>
            </a:extLst>
          </p:cNvPr>
          <p:cNvSpPr txBox="1"/>
          <p:nvPr/>
        </p:nvSpPr>
        <p:spPr>
          <a:xfrm>
            <a:off x="605929" y="308473"/>
            <a:ext cx="11391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600" b="1">
                <a:solidFill>
                  <a:srgbClr val="006CB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AE0983-B2DD-ABA0-1C46-08CDA92F1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A913A8-AEF4-BCB8-8354-9CD7D4BB0692}"/>
              </a:ext>
            </a:extLst>
          </p:cNvPr>
          <p:cNvSpPr/>
          <p:nvPr/>
        </p:nvSpPr>
        <p:spPr>
          <a:xfrm>
            <a:off x="9739423" y="5752214"/>
            <a:ext cx="2169042" cy="893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C76DA4-2D91-16EF-2EAC-88C3794A28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891" y="5714446"/>
            <a:ext cx="1802478" cy="83508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ACB217-1BE1-1AE0-D2EB-D338C8FDC967}"/>
              </a:ext>
            </a:extLst>
          </p:cNvPr>
          <p:cNvSpPr txBox="1"/>
          <p:nvPr/>
        </p:nvSpPr>
        <p:spPr>
          <a:xfrm>
            <a:off x="844732" y="1542144"/>
            <a:ext cx="1050253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Recipe management is often disorganized and inefficient.</a:t>
            </a:r>
          </a:p>
          <a:p>
            <a:r>
              <a:rPr lang="en-US" sz="2800" dirty="0"/>
              <a:t>Users struggle with losing or forgetting recipes.</a:t>
            </a:r>
          </a:p>
          <a:p>
            <a:r>
              <a:rPr lang="en-US" sz="2800" dirty="0"/>
              <a:t>Current solutions are either complicated or incomplete.</a:t>
            </a:r>
          </a:p>
          <a:p>
            <a:r>
              <a:rPr lang="en-US" sz="2800" dirty="0"/>
              <a:t>RecipeBox provides a centralized, easy-to-use platform for all users.</a:t>
            </a:r>
          </a:p>
        </p:txBody>
      </p:sp>
    </p:spTree>
    <p:extLst>
      <p:ext uri="{BB962C8B-B14F-4D97-AF65-F5344CB8AC3E}">
        <p14:creationId xmlns:p14="http://schemas.microsoft.com/office/powerpoint/2010/main" val="211247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6373-EF7F-053C-4B5A-8D0B38F85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7054F349-1FE8-DFB4-54D3-E6B077CA7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0" y="0"/>
            <a:ext cx="12389688" cy="6967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A5CF63-E991-D55E-15F6-05243AF14016}"/>
              </a:ext>
            </a:extLst>
          </p:cNvPr>
          <p:cNvSpPr txBox="1"/>
          <p:nvPr/>
        </p:nvSpPr>
        <p:spPr>
          <a:xfrm>
            <a:off x="605929" y="308473"/>
            <a:ext cx="11391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600" b="1">
                <a:solidFill>
                  <a:srgbClr val="006CB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A0369-C13C-F5CA-1C18-64FD1463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9C9DE7-B8B6-19C7-7193-8DADAC88294D}"/>
              </a:ext>
            </a:extLst>
          </p:cNvPr>
          <p:cNvSpPr/>
          <p:nvPr/>
        </p:nvSpPr>
        <p:spPr>
          <a:xfrm>
            <a:off x="9739423" y="5752214"/>
            <a:ext cx="2169042" cy="893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1A032C-DDD3-B0DC-BF2C-6AE404E335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891" y="5714446"/>
            <a:ext cx="1802478" cy="83508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22A579-145B-C06E-128F-CA032AE12358}"/>
              </a:ext>
            </a:extLst>
          </p:cNvPr>
          <p:cNvSpPr txBox="1"/>
          <p:nvPr/>
        </p:nvSpPr>
        <p:spPr>
          <a:xfrm>
            <a:off x="1919641" y="1222144"/>
            <a:ext cx="855040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Allow seller to add, edit, delete, and view recipes.</a:t>
            </a:r>
          </a:p>
          <a:p>
            <a:r>
              <a:rPr lang="en-US" sz="2800" dirty="0"/>
              <a:t>Categorize recipes by meal type or cuisine.</a:t>
            </a:r>
          </a:p>
          <a:p>
            <a:r>
              <a:rPr lang="en-US" sz="2800" dirty="0"/>
              <a:t>Provide fast search functionality for ingredients or recipe names.</a:t>
            </a:r>
          </a:p>
          <a:p>
            <a:r>
              <a:rPr lang="en-US" sz="2800" dirty="0"/>
              <a:t>Ensure responsive design for mobile and desktop users.</a:t>
            </a:r>
          </a:p>
          <a:p>
            <a:r>
              <a:rPr lang="en-US" sz="2800" dirty="0"/>
              <a:t>Maintain secure and persistent data storage.</a:t>
            </a:r>
          </a:p>
        </p:txBody>
      </p:sp>
    </p:spTree>
    <p:extLst>
      <p:ext uri="{BB962C8B-B14F-4D97-AF65-F5344CB8AC3E}">
        <p14:creationId xmlns:p14="http://schemas.microsoft.com/office/powerpoint/2010/main" val="810980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E90B4-E827-2085-6370-E5C0CE5AE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4AF43476-1FB2-4E43-C0D8-608AE6834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-197708" y="0"/>
            <a:ext cx="12389688" cy="6967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DE98CC-C7B4-E593-1D1A-AC381FAED0C1}"/>
              </a:ext>
            </a:extLst>
          </p:cNvPr>
          <p:cNvSpPr txBox="1"/>
          <p:nvPr/>
        </p:nvSpPr>
        <p:spPr>
          <a:xfrm>
            <a:off x="605929" y="308473"/>
            <a:ext cx="11391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600" b="1">
                <a:solidFill>
                  <a:srgbClr val="006CB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BBAC6A-4BD7-8D3D-9B23-42A5B8CAF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4874F9-CAD3-FE79-B971-3E0B6AC46A35}"/>
              </a:ext>
            </a:extLst>
          </p:cNvPr>
          <p:cNvSpPr/>
          <p:nvPr/>
        </p:nvSpPr>
        <p:spPr>
          <a:xfrm>
            <a:off x="9739423" y="5752214"/>
            <a:ext cx="2169042" cy="893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FA8D86-AEFF-5DA3-03F2-EF0F0CBB1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891" y="5714446"/>
            <a:ext cx="1802478" cy="835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1354AB-D74D-72FB-1750-63A1E5C6F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148" y="1140166"/>
            <a:ext cx="10763795" cy="425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5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508962-85D1-83F4-BF02-618361B2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6BF-8A16-4F24-9F8F-9D40354D5A5C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Content Placeholder 4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F6CEFF93-D1D7-B31C-D418-027B5E9961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-197708" y="-54954"/>
            <a:ext cx="12389688" cy="6967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E99682-7D2D-9B3F-5639-5D496008E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726" y="5564777"/>
            <a:ext cx="2217643" cy="115669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B926EC-65BA-723A-3CC3-057AABF13A9C}"/>
              </a:ext>
            </a:extLst>
          </p:cNvPr>
          <p:cNvSpPr txBox="1"/>
          <p:nvPr/>
        </p:nvSpPr>
        <p:spPr>
          <a:xfrm>
            <a:off x="635726" y="557349"/>
            <a:ext cx="1064187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Frontend: React + Vite for interactive UI.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Backend: Node.js / Express (or any REST API).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Database: MongoDB / JSON storage for recipe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CRUD Operations: Full implementation for recipe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Workflow: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User Registration/Login.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Dashboard access.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Add/Edit/Delete recipes.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Search, filter, add to add to cart recipes.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Testing: Ensure responsive design and functionality.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38824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E6BEF-FD77-06F6-C54D-C7718CE8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3EFF2412-B3F6-A3F8-29E3-A8144A637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-197708" y="-72330"/>
            <a:ext cx="12389688" cy="6967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0604D1-0249-62B3-8886-B989807BC9C9}"/>
              </a:ext>
            </a:extLst>
          </p:cNvPr>
          <p:cNvSpPr txBox="1"/>
          <p:nvPr/>
        </p:nvSpPr>
        <p:spPr>
          <a:xfrm>
            <a:off x="605929" y="308473"/>
            <a:ext cx="11391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600" b="1">
                <a:solidFill>
                  <a:srgbClr val="006CB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BC9E56-CA28-E49E-9E94-EB870655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8586C7-5659-3B56-7386-1B4E88A643AA}"/>
              </a:ext>
            </a:extLst>
          </p:cNvPr>
          <p:cNvSpPr/>
          <p:nvPr/>
        </p:nvSpPr>
        <p:spPr>
          <a:xfrm>
            <a:off x="9739423" y="5752214"/>
            <a:ext cx="2169042" cy="893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A254EA-E7A7-1F29-53B5-B78C3F20BD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891" y="5714446"/>
            <a:ext cx="1802478" cy="83508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115EB4B-900D-AB31-F77C-CFEB1A703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054320"/>
              </p:ext>
            </p:extLst>
          </p:nvPr>
        </p:nvGraphicFramePr>
        <p:xfrm>
          <a:off x="1262742" y="659674"/>
          <a:ext cx="9562011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EB68282-94A1-1501-1D9B-B9E176749139}"/>
              </a:ext>
            </a:extLst>
          </p:cNvPr>
          <p:cNvSpPr txBox="1"/>
          <p:nvPr/>
        </p:nvSpPr>
        <p:spPr>
          <a:xfrm>
            <a:off x="1088571" y="4302259"/>
            <a:ext cx="91063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dirty="0"/>
              <a:t>• Week 1–2: Requirement analysis &amp; project setup</a:t>
            </a:r>
          </a:p>
          <a:p>
            <a:pPr>
              <a:defRPr sz="1800"/>
            </a:pPr>
            <a:r>
              <a:rPr lang="en-US" dirty="0"/>
              <a:t>• Week 3–4: Frontend development (React, components)</a:t>
            </a:r>
          </a:p>
          <a:p>
            <a:pPr>
              <a:defRPr sz="1800"/>
            </a:pPr>
            <a:r>
              <a:rPr lang="en-US" dirty="0"/>
              <a:t>• Week 5–6: Backend development &amp; API integration</a:t>
            </a:r>
          </a:p>
          <a:p>
            <a:pPr>
              <a:defRPr sz="1800"/>
            </a:pPr>
            <a:r>
              <a:rPr lang="en-US" dirty="0"/>
              <a:t>• Week 7: Database setup &amp; connection</a:t>
            </a:r>
          </a:p>
          <a:p>
            <a:pPr>
              <a:defRPr sz="1800"/>
            </a:pPr>
            <a:r>
              <a:rPr lang="en-US" dirty="0"/>
              <a:t>• Week 8: Implement CRUD and search features</a:t>
            </a:r>
          </a:p>
          <a:p>
            <a:pPr>
              <a:defRPr sz="1800"/>
            </a:pPr>
            <a:r>
              <a:rPr lang="en-US" dirty="0"/>
              <a:t>• Week 9: Testing, debugging &amp; optimization</a:t>
            </a:r>
          </a:p>
        </p:txBody>
      </p:sp>
    </p:spTree>
    <p:extLst>
      <p:ext uri="{BB962C8B-B14F-4D97-AF65-F5344CB8AC3E}">
        <p14:creationId xmlns:p14="http://schemas.microsoft.com/office/powerpoint/2010/main" val="3380717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63ED-907A-8871-0B16-50D93CC7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063F4A48-9E04-56C1-FCCA-DC043A4DC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-197708" y="-102810"/>
            <a:ext cx="12389688" cy="6967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7D401E-3CFB-37CB-C402-8E0C0E19DB45}"/>
              </a:ext>
            </a:extLst>
          </p:cNvPr>
          <p:cNvSpPr txBox="1"/>
          <p:nvPr/>
        </p:nvSpPr>
        <p:spPr>
          <a:xfrm>
            <a:off x="605929" y="308473"/>
            <a:ext cx="11391440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600" b="1">
                <a:solidFill>
                  <a:srgbClr val="006CB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AF1518-6310-4671-73AE-EBC402FC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536269-0837-F436-56E0-A236E375B14D}"/>
              </a:ext>
            </a:extLst>
          </p:cNvPr>
          <p:cNvSpPr/>
          <p:nvPr/>
        </p:nvSpPr>
        <p:spPr>
          <a:xfrm>
            <a:off x="9739423" y="5752214"/>
            <a:ext cx="2169042" cy="893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B31AB0-B224-BA73-3199-22EE621AE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891" y="5714446"/>
            <a:ext cx="1802478" cy="83508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9FC3D4-18F7-4AE3-5C8A-BB2BB2CAD264}"/>
              </a:ext>
            </a:extLst>
          </p:cNvPr>
          <p:cNvSpPr txBox="1"/>
          <p:nvPr/>
        </p:nvSpPr>
        <p:spPr>
          <a:xfrm>
            <a:off x="1018903" y="1350483"/>
            <a:ext cx="100322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US" sz="2800" dirty="0"/>
              <a:t>1. ReactJS Documentation – https://react.dev</a:t>
            </a:r>
          </a:p>
          <a:p>
            <a:pPr>
              <a:defRPr sz="2000"/>
            </a:pPr>
            <a:r>
              <a:rPr lang="en-US" sz="2800" dirty="0"/>
              <a:t>2. Node.js and Express.js Documentation – https://nodejs.org</a:t>
            </a:r>
          </a:p>
          <a:p>
            <a:pPr>
              <a:defRPr sz="2000"/>
            </a:pPr>
            <a:r>
              <a:rPr lang="en-US" sz="2800" dirty="0"/>
              <a:t>3. MongoDB Documentation – https://www.mongodb.com/docs</a:t>
            </a:r>
          </a:p>
          <a:p>
            <a:pPr>
              <a:defRPr sz="2000"/>
            </a:pPr>
            <a:r>
              <a:rPr lang="en-US" sz="2800" dirty="0"/>
              <a:t>4. Research papers on web-based recipe management systems.</a:t>
            </a:r>
          </a:p>
        </p:txBody>
      </p:sp>
    </p:spTree>
    <p:extLst>
      <p:ext uri="{BB962C8B-B14F-4D97-AF65-F5344CB8AC3E}">
        <p14:creationId xmlns:p14="http://schemas.microsoft.com/office/powerpoint/2010/main" val="3210825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22729</TotalTime>
  <Words>648</Words>
  <Application>Microsoft Office PowerPoint</Application>
  <PresentationFormat>Widescreen</PresentationFormat>
  <Paragraphs>115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Bookman Old Style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Stuti Gandhi</dc:creator>
  <cp:lastModifiedBy>Chandan Chaudhary</cp:lastModifiedBy>
  <cp:revision>768</cp:revision>
  <dcterms:created xsi:type="dcterms:W3CDTF">2021-05-06T09:42:21Z</dcterms:created>
  <dcterms:modified xsi:type="dcterms:W3CDTF">2026-02-16T05:50:08Z</dcterms:modified>
</cp:coreProperties>
</file>